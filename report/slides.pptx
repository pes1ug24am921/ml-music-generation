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LSTM loss (cross-entropy), x = epoch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38100">
              <a:solidFill>
                <a:srgbClr val="5B4FCF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3.2632</c:v>
                </c:pt>
                <c:pt idx="1">
                  <c:v>3.0495</c:v>
                </c:pt>
                <c:pt idx="2">
                  <c:v>2.9467</c:v>
                </c:pt>
                <c:pt idx="3">
                  <c:v>2.8629</c:v>
                </c:pt>
                <c:pt idx="4">
                  <c:v>2.7919</c:v>
                </c:pt>
                <c:pt idx="5">
                  <c:v>2.7297</c:v>
                </c:pt>
                <c:pt idx="6">
                  <c:v>2.6748</c:v>
                </c:pt>
                <c:pt idx="7">
                  <c:v>2.6286</c:v>
                </c:pt>
                <c:pt idx="8">
                  <c:v>2.5852</c:v>
                </c:pt>
                <c:pt idx="9">
                  <c:v>2.5482</c:v>
                </c:pt>
                <c:pt idx="10">
                  <c:v>2.5144</c:v>
                </c:pt>
                <c:pt idx="11">
                  <c:v>2.4822</c:v>
                </c:pt>
                <c:pt idx="12">
                  <c:v>2.454</c:v>
                </c:pt>
                <c:pt idx="13">
                  <c:v>2.4316</c:v>
                </c:pt>
                <c:pt idx="14">
                  <c:v>2.4105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38100">
              <a:solidFill>
                <a:srgbClr val="E8743B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3.2849</c:v>
                </c:pt>
                <c:pt idx="1">
                  <c:v>3.224</c:v>
                </c:pt>
                <c:pt idx="2">
                  <c:v>3.1991</c:v>
                </c:pt>
                <c:pt idx="3">
                  <c:v>3.1822</c:v>
                </c:pt>
                <c:pt idx="4">
                  <c:v>3.1803</c:v>
                </c:pt>
                <c:pt idx="5">
                  <c:v>3.1807</c:v>
                </c:pt>
                <c:pt idx="6">
                  <c:v>3.1842</c:v>
                </c:pt>
                <c:pt idx="7">
                  <c:v>3.1968</c:v>
                </c:pt>
                <c:pt idx="8">
                  <c:v>3.2159</c:v>
                </c:pt>
                <c:pt idx="9">
                  <c:v>3.2202</c:v>
                </c:pt>
                <c:pt idx="10">
                  <c:v>3.2272</c:v>
                </c:pt>
                <c:pt idx="11">
                  <c:v>3.241</c:v>
                </c:pt>
                <c:pt idx="12">
                  <c:v>3.2513</c:v>
                </c:pt>
                <c:pt idx="13">
                  <c:v>3.2586</c:v>
                </c:pt>
                <c:pt idx="14">
                  <c:v>3.2746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4"/>
          <c:min val="2.2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Seq2seq loss (cross-entropy), x = epoch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38100">
              <a:solidFill>
                <a:srgbClr val="5B4FCF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3.2099</c:v>
                </c:pt>
                <c:pt idx="1">
                  <c:v>2.8917</c:v>
                </c:pt>
                <c:pt idx="2">
                  <c:v>2.6987</c:v>
                </c:pt>
                <c:pt idx="3">
                  <c:v>2.5754</c:v>
                </c:pt>
                <c:pt idx="4">
                  <c:v>2.4894</c:v>
                </c:pt>
                <c:pt idx="5">
                  <c:v>2.4271</c:v>
                </c:pt>
                <c:pt idx="6">
                  <c:v>2.3805</c:v>
                </c:pt>
                <c:pt idx="7">
                  <c:v>2.3368</c:v>
                </c:pt>
                <c:pt idx="8">
                  <c:v>2.3028</c:v>
                </c:pt>
                <c:pt idx="9">
                  <c:v>2.2744</c:v>
                </c:pt>
                <c:pt idx="10">
                  <c:v>2.2485</c:v>
                </c:pt>
                <c:pt idx="11">
                  <c:v>2.2264</c:v>
                </c:pt>
                <c:pt idx="12">
                  <c:v>2.2033</c:v>
                </c:pt>
                <c:pt idx="13">
                  <c:v>2.1811</c:v>
                </c:pt>
                <c:pt idx="14">
                  <c:v>2.1667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38100">
              <a:solidFill>
                <a:srgbClr val="E8743B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3.5628</c:v>
                </c:pt>
                <c:pt idx="1">
                  <c:v>3.6434</c:v>
                </c:pt>
                <c:pt idx="2">
                  <c:v>3.7294</c:v>
                </c:pt>
                <c:pt idx="3">
                  <c:v>3.8282</c:v>
                </c:pt>
                <c:pt idx="4">
                  <c:v>3.8638</c:v>
                </c:pt>
                <c:pt idx="5">
                  <c:v>3.921</c:v>
                </c:pt>
                <c:pt idx="6">
                  <c:v>3.9458</c:v>
                </c:pt>
                <c:pt idx="7">
                  <c:v>3.9605</c:v>
                </c:pt>
                <c:pt idx="8">
                  <c:v>4.0329</c:v>
                </c:pt>
                <c:pt idx="9">
                  <c:v>4.0226</c:v>
                </c:pt>
                <c:pt idx="10">
                  <c:v>4.0505</c:v>
                </c:pt>
                <c:pt idx="11">
                  <c:v>4.0806</c:v>
                </c:pt>
                <c:pt idx="12">
                  <c:v>4.1136</c:v>
                </c:pt>
                <c:pt idx="13">
                  <c:v>4.1408</c:v>
                </c:pt>
                <c:pt idx="14">
                  <c:v>4.1182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2"/>
          <c:min val="2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Generating Music with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C4EE"/>
                </a:solidFill>
              </a:rPr>
              <a:t>UE24CS352A Machine Learning  |  Problem 22  |  Sec-H, Team H-10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Rohan Agarwal (PES1UG24AM921)
Rolla N Harsha Vardhan (PES1UG24AM446)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4EE"/>
                </a:solidFill>
              </a:rPr>
              <a:t>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Problem and reference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03520" cy="4480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82296" cy="448056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B1F3B"/>
                </a:solidFill>
              </a:rPr>
              <a:t>- Generate piano music with machine learning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Input: MIDI files, treated as a sequence of notes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Task: predict the next note, then repeat to compose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Compare simple and sequence models on the same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4480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82296" cy="448056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Reference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93775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B1F3B"/>
                </a:solidFill>
              </a:rPr>
              <a:t>- Music Composition with Machine Learning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Kang, Kim, Ringdahl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Stanford CS229, 2018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1B1F3B"/>
                </a:solidFill>
              </a:rPr>
              <a:t>- We follow its four-model comparison: Naive Bayes, MLP, LSTM, GRU encoder-decoder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Dataset and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063240" cy="210312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B4FCF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songs (first 100 files of MAESTRO v3.0.0, MIDI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463040"/>
            <a:ext cx="3063240" cy="210312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645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B4FCF"/>
                </a:solidFill>
              </a:rPr>
              <a:t>360,047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514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onset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3063240" cy="210312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B4FCF"/>
                </a:solidFill>
              </a:rPr>
              <a:t>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piano keys (pitch range)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3749039"/>
            <a:ext cx="3063240" cy="210312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9319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B4FCF"/>
                </a:solidFill>
              </a:rPr>
              <a:t>80/10/10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8006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train / val / test, split by song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463040"/>
            <a:ext cx="4206240" cy="438912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463040"/>
            <a:ext cx="82296" cy="4389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54480"/>
            <a:ext cx="3840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03120"/>
            <a:ext cx="38404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B1F3B"/>
                </a:solidFill>
              </a:rPr>
              <a:t>- Read MIDI notes as onset events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B1F3B"/>
                </a:solidFill>
              </a:rPr>
              <a:t>- Map each event to one of 88 keys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B1F3B"/>
                </a:solidFill>
              </a:rPr>
              <a:t>- Slide a window over the song to make training examples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B1F3B"/>
                </a:solidFill>
              </a:rPr>
              <a:t>- Split by song, so test songs are never seen in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Approach: four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94960" cy="2194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82296" cy="219456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Naive Bayes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B1F3B"/>
                </a:solidFill>
              </a:rPr>
              <a:t>- Counts-based baseline for the next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2194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82296" cy="219456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B1F3B"/>
                </a:solidFill>
              </a:rPr>
              <a:t>- Feed-forward network on a fixed window of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94960" cy="2194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82296" cy="2194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B1F3B"/>
                </a:solidFill>
              </a:rPr>
              <a:t>- 1 layer, 256 hidden units, embedding 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94960" cy="219456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82296" cy="2194560"/>
          </a:xfrm>
          <a:prstGeom prst="rect">
            <a:avLst/>
          </a:prstGeom>
          <a:solidFill>
            <a:srgbClr val="2B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GRU encoder-decoder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B1F3B"/>
                </a:solidFill>
              </a:rPr>
              <a:t>- 2-layer GRU encoder and decoder, reads 32 notes, predicts next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566160" cy="457200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82296" cy="4572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Repo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src/data_prep.py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src/models.py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src/train.py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src/generate.py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src/naive_bayes.py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scripts/get_data.sh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outputs/, report/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566160" cy="457200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82296" cy="457200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Training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Cross-entropy loss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Adam, lr 1e-3, batch 128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Gradient clipping 1.0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Dropout 0.3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Best-validation checkpoint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- 15 epochs, 100 songs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Seq2seq: teacher forcing 0.5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63040"/>
            <a:ext cx="3383280" cy="457200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82296" cy="457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Seed: 32 notes from a test song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Predict the next note, append, repeat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- 200 notes generated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Temperature 0.9 for sampling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Saved as a .mid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377440"/>
                <a:gridCol w="3291840"/>
              </a:tblGrid>
              <a:tr h="34747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B2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Train loss</a:t>
                      </a:r>
                    </a:p>
                  </a:txBody>
                  <a:tcPr>
                    <a:solidFill>
                      <a:srgbClr val="2B2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Test loss</a:t>
                      </a:r>
                    </a:p>
                  </a:txBody>
                  <a:tcPr>
                    <a:solidFill>
                      <a:srgbClr val="2B2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Test accuracy*</a:t>
                      </a:r>
                    </a:p>
                  </a:txBody>
                  <a:tcPr>
                    <a:solidFill>
                      <a:srgbClr val="2B2D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12.3% exact pitch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1.498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3.353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15.1% next-note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2.411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3.161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18.5% next-note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Encoder-decoder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2.167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3.514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B1F3B"/>
                          </a:solidFill>
                        </a:rPr>
                        <a:t>11.9% per token</a:t>
                      </a:r>
                    </a:p>
                  </a:txBody>
                  <a:tcPr>
                    <a:solidFill>
                      <a:srgbClr val="F3F1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3017520"/>
          <a:ext cx="53949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3017520"/>
          <a:ext cx="539496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B2D6E"/>
                </a:solidFill>
              </a:rPr>
              <a:t>All neural models overfit: validation loss bottoms out early (MLP epoch 1, LSTM ~epoch 5, seq2seq epoch 1) while train loss keeps falling.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F7A"/>
                </a:solidFill>
              </a:rPr>
              <a:t>*Accuracies are not directly comparable: Naive Bayes counts a hit on any right-hand note; seq2seq is per token over 8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B2D6E"/>
                </a:solidFill>
              </a:rPr>
              <a:t>Demo, conclusions,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394960" cy="228600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82296" cy="2286000"/>
          </a:xfrm>
          <a:prstGeom prst="rect">
            <a:avLst/>
          </a:prstGeom>
          <a:solidFill>
            <a:srgbClr val="5B4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Live demo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Load saved lstm.pt and seq2seq.pt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Generate 200 notes from a 32-note seed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Play the .mid files and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82296" cy="228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LSTM was best: 18.5% test accuracy, test loss 3.161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Every neural model overfits on 100 songs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0480"/>
            <a:ext cx="5394960" cy="237744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82296" cy="2377440"/>
          </a:xfrm>
          <a:prstGeom prst="rect">
            <a:avLst/>
          </a:prstGeom>
          <a:solidFill>
            <a:srgbClr val="E87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Only 100 songs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No note durations or velocities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Accuracy is not musical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03520" cy="2377440"/>
          </a:xfrm>
          <a:prstGeom prst="rect">
            <a:avLst/>
          </a:prstGeom>
          <a:solidFill>
            <a:srgbClr val="F3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82296" cy="2377440"/>
          </a:xfrm>
          <a:prstGeom prst="rect">
            <a:avLst/>
          </a:prstGeom>
          <a:solidFill>
            <a:srgbClr val="2B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D6E"/>
                </a:solidFill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9377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F3B"/>
                </a:solidFill>
              </a:rPr>
              <a:t>- Transformer model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Add velocity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1B1F3B"/>
                </a:solidFill>
              </a:rPr>
              <a:t>- Listening survey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